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ource Serif Pro Bold" charset="1" panose="02040803050405020204"/>
      <p:regular r:id="rId19"/>
    </p:embeddedFont>
    <p:embeddedFont>
      <p:font typeface="Source Sans Pro Bold" charset="1" panose="020B0703030403020204"/>
      <p:regular r:id="rId20"/>
    </p:embeddedFont>
    <p:embeddedFont>
      <p:font typeface="Source Sans Pro" charset="1" panose="020B0503030403020204"/>
      <p:regular r:id="rId21"/>
    </p:embeddedFont>
    <p:embeddedFont>
      <p:font typeface="Consolas" charset="1" panose="020B0609020204030204"/>
      <p:regular r:id="rId24"/>
    </p:embeddedFont>
    <p:embeddedFont>
      <p:font typeface="Source Serif Pro" charset="1" panose="02040603050405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1222622"/>
            <a:ext cx="12616309" cy="89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Aplicação no Sistema de E-commerce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5" y="2624881"/>
            <a:ext cx="16193690" cy="5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👥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Equipe: Anderson Islan, Camylla Braz, Alessandra Macêdo, Gabriel Ferreira e Gabriel Garcia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155" y="3449688"/>
            <a:ext cx="16193690" cy="5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📅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Data: 19/11/2025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5" y="4274492"/>
            <a:ext cx="16193690" cy="5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👨‍🏫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Professor: Álvaro George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7155" y="5344066"/>
            <a:ext cx="16193690" cy="46881"/>
            <a:chOff x="0" y="0"/>
            <a:chExt cx="21591587" cy="625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91524" cy="62484"/>
            </a:xfrm>
            <a:custGeom>
              <a:avLst/>
              <a:gdLst/>
              <a:ahLst/>
              <a:cxnLst/>
              <a:rect r="r" b="b" t="t" l="l"/>
              <a:pathLst>
                <a:path h="62484" w="21591524">
                  <a:moveTo>
                    <a:pt x="0" y="0"/>
                  </a:moveTo>
                  <a:lnTo>
                    <a:pt x="21591524" y="0"/>
                  </a:lnTo>
                  <a:lnTo>
                    <a:pt x="21591524" y="62484"/>
                  </a:lnTo>
                  <a:lnTo>
                    <a:pt x="0" y="62484"/>
                  </a:lnTo>
                  <a:close/>
                </a:path>
              </a:pathLst>
            </a:custGeom>
            <a:solidFill>
              <a:srgbClr val="272525">
                <a:alpha val="24706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47155" y="5830044"/>
            <a:ext cx="4224338" cy="53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Integrantes: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155" y="6720929"/>
            <a:ext cx="1619369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b="true" sz="2312">
                <a:solidFill>
                  <a:srgbClr val="27252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[Gabriel Garcia]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 Backend &amp; Padrões Criacionais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155" y="7304335"/>
            <a:ext cx="1619369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b="true" sz="2312">
                <a:solidFill>
                  <a:srgbClr val="27252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[Anderson Islan]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 Arquitetura &amp; Padrões Estruturais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155" y="7887741"/>
            <a:ext cx="1619369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b="true" sz="2312">
                <a:solidFill>
                  <a:srgbClr val="27252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[Gabriel Ferreira]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 Frontend &amp; Padrões Comportamentais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7155" y="8471148"/>
            <a:ext cx="1619369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607" indent="-174304" lvl="1">
              <a:lnSpc>
                <a:spcPts val="3750"/>
              </a:lnSpc>
              <a:buFont typeface="Arial"/>
              <a:buChar char="•"/>
            </a:pPr>
            <a:r>
              <a:rPr lang="en-US" b="true" sz="2312">
                <a:solidFill>
                  <a:srgbClr val="27252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[Alessandra e Camylla]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 Documentação &amp; Coordenação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1762125"/>
            <a:ext cx="11624221" cy="9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🛒</a:t>
            </a:r>
            <a:r>
              <a:rPr lang="en-US" sz="5500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Nosso E-commerce | </a:t>
            </a:r>
            <a:r>
              <a:rPr lang="en-US" sz="550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📋</a:t>
            </a:r>
            <a:r>
              <a:rPr lang="en-US" sz="5500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5" y="3390007"/>
            <a:ext cx="5632400" cy="732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🎯</a:t>
            </a:r>
            <a:r>
              <a:rPr lang="en-US" sz="4375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Sistema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155" y="4326582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Gestão de Usuários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5" y="4909989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Catálogo de Produtos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155" y="5493395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Carrinho &amp; Checkout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5" y="6076801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Controle de Pedidos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155" y="6660208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Painel Administrativo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18451" y="3390007"/>
            <a:ext cx="5632400" cy="732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⏰</a:t>
            </a:r>
            <a:r>
              <a:rPr lang="en-US" sz="4375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Roteiro (19min)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18451" y="4326582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AutoNum type="arabicPeriod" startAt="1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Visão Geral (2min)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18451" y="4909989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AutoNum type="arabicPeriod" startAt="1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Singleton (3min)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18451" y="5493395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AutoNum type="arabicPeriod" startAt="1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Factory Method (3min)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18451" y="6076801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AutoNum type="arabicPeriod" startAt="1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Strategy (3min)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18451" y="6660208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AutoNum type="arabicPeriod" startAt="1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Observer (3min)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18451" y="7243614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AutoNum type="arabicPeriod" startAt="1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Facade (3min)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18451" y="7827020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AutoNum type="arabicPeriod" startAt="1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Conclusão (2min)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47117" y="570011"/>
            <a:ext cx="5560962" cy="65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🔧</a:t>
            </a:r>
            <a:r>
              <a:rPr lang="en-US" sz="3937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Padrões Criacionais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7117" y="1292572"/>
            <a:ext cx="5727352" cy="52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25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Singleton - Database Manager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7117" y="2067371"/>
            <a:ext cx="16793765" cy="40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 b="true">
                <a:solidFill>
                  <a:srgbClr val="27252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Problema:</a:t>
            </a:r>
            <a:r>
              <a:rPr lang="en-US" sz="1625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Múltiplas instâncias do banco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7117" y="2648842"/>
            <a:ext cx="16793765" cy="40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 b="true">
                <a:solidFill>
                  <a:srgbClr val="27252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Solução:</a:t>
            </a:r>
            <a:r>
              <a:rPr lang="en-US" sz="1625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Única instância global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47117" y="3296990"/>
            <a:ext cx="16793765" cy="2368451"/>
            <a:chOff x="0" y="0"/>
            <a:chExt cx="22391687" cy="31579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91624" cy="3157855"/>
            </a:xfrm>
            <a:custGeom>
              <a:avLst/>
              <a:gdLst/>
              <a:ahLst/>
              <a:cxnLst/>
              <a:rect r="r" b="b" t="t" l="l"/>
              <a:pathLst>
                <a:path h="3157855" w="22391624">
                  <a:moveTo>
                    <a:pt x="0" y="119507"/>
                  </a:moveTo>
                  <a:cubicBezTo>
                    <a:pt x="0" y="53467"/>
                    <a:pt x="53467" y="0"/>
                    <a:pt x="119507" y="0"/>
                  </a:cubicBezTo>
                  <a:lnTo>
                    <a:pt x="22272118" y="0"/>
                  </a:lnTo>
                  <a:cubicBezTo>
                    <a:pt x="22338157" y="0"/>
                    <a:pt x="22391624" y="53467"/>
                    <a:pt x="22391624" y="119507"/>
                  </a:cubicBezTo>
                  <a:lnTo>
                    <a:pt x="22391624" y="3038348"/>
                  </a:lnTo>
                  <a:cubicBezTo>
                    <a:pt x="22391624" y="3104388"/>
                    <a:pt x="22338157" y="3157855"/>
                    <a:pt x="22272118" y="3157855"/>
                  </a:cubicBezTo>
                  <a:lnTo>
                    <a:pt x="119507" y="3157855"/>
                  </a:lnTo>
                  <a:cubicBezTo>
                    <a:pt x="53467" y="3157855"/>
                    <a:pt x="0" y="3104388"/>
                    <a:pt x="0" y="30383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6550" y="3296990"/>
            <a:ext cx="16814899" cy="2368451"/>
            <a:chOff x="0" y="0"/>
            <a:chExt cx="22419865" cy="31579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19818" cy="3157855"/>
            </a:xfrm>
            <a:custGeom>
              <a:avLst/>
              <a:gdLst/>
              <a:ahLst/>
              <a:cxnLst/>
              <a:rect r="r" b="b" t="t" l="l"/>
              <a:pathLst>
                <a:path h="3157855" w="22419818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22377146" y="0"/>
                  </a:lnTo>
                  <a:cubicBezTo>
                    <a:pt x="22400768" y="0"/>
                    <a:pt x="22419818" y="19177"/>
                    <a:pt x="22419818" y="42672"/>
                  </a:cubicBezTo>
                  <a:lnTo>
                    <a:pt x="22419818" y="3115183"/>
                  </a:lnTo>
                  <a:cubicBezTo>
                    <a:pt x="22419818" y="3138805"/>
                    <a:pt x="22400640" y="3157855"/>
                    <a:pt x="22377146" y="3157855"/>
                  </a:cubicBezTo>
                  <a:lnTo>
                    <a:pt x="42672" y="3157855"/>
                  </a:lnTo>
                  <a:cubicBezTo>
                    <a:pt x="19050" y="3157855"/>
                    <a:pt x="0" y="3138678"/>
                    <a:pt x="0" y="311518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49970" y="3361730"/>
            <a:ext cx="16388060" cy="214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class DatabaseManager:    _instance = None    def __new__(cls):        if not cls._instance:            cls._instance = super().__new__(cls)        return cls._instance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47117" y="6012149"/>
            <a:ext cx="16793765" cy="36165"/>
            <a:chOff x="0" y="0"/>
            <a:chExt cx="22391687" cy="482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91624" cy="48260"/>
            </a:xfrm>
            <a:custGeom>
              <a:avLst/>
              <a:gdLst/>
              <a:ahLst/>
              <a:cxnLst/>
              <a:rect r="r" b="b" t="t" l="l"/>
              <a:pathLst>
                <a:path h="48260" w="22391624">
                  <a:moveTo>
                    <a:pt x="0" y="0"/>
                  </a:moveTo>
                  <a:lnTo>
                    <a:pt x="22391624" y="0"/>
                  </a:lnTo>
                  <a:lnTo>
                    <a:pt x="22391624" y="48260"/>
                  </a:lnTo>
                  <a:lnTo>
                    <a:pt x="0" y="48260"/>
                  </a:lnTo>
                  <a:close/>
                </a:path>
              </a:pathLst>
            </a:custGeom>
            <a:solidFill>
              <a:srgbClr val="272525">
                <a:alpha val="24706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47117" y="6349305"/>
            <a:ext cx="5826919" cy="52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25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Factory Method - User Factory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7117" y="7124105"/>
            <a:ext cx="16793765" cy="40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 b="true">
                <a:solidFill>
                  <a:srgbClr val="27252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Problema:</a:t>
            </a:r>
            <a:r>
              <a:rPr lang="en-US" sz="1625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Diferentes tipos de usuários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117" y="7705576"/>
            <a:ext cx="16793765" cy="40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 b="true">
                <a:solidFill>
                  <a:srgbClr val="27252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Solução:</a:t>
            </a:r>
            <a:r>
              <a:rPr lang="en-US" sz="1625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Criação flexível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47117" y="8353722"/>
            <a:ext cx="16793765" cy="1344216"/>
            <a:chOff x="0" y="0"/>
            <a:chExt cx="22391687" cy="1792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391624" cy="1792224"/>
            </a:xfrm>
            <a:custGeom>
              <a:avLst/>
              <a:gdLst/>
              <a:ahLst/>
              <a:cxnLst/>
              <a:rect r="r" b="b" t="t" l="l"/>
              <a:pathLst>
                <a:path h="1792224" w="22391624">
                  <a:moveTo>
                    <a:pt x="0" y="119507"/>
                  </a:moveTo>
                  <a:cubicBezTo>
                    <a:pt x="0" y="53467"/>
                    <a:pt x="53467" y="0"/>
                    <a:pt x="119507" y="0"/>
                  </a:cubicBezTo>
                  <a:lnTo>
                    <a:pt x="22272118" y="0"/>
                  </a:lnTo>
                  <a:cubicBezTo>
                    <a:pt x="22338157" y="0"/>
                    <a:pt x="22391624" y="53467"/>
                    <a:pt x="22391624" y="119507"/>
                  </a:cubicBezTo>
                  <a:lnTo>
                    <a:pt x="22391624" y="1672717"/>
                  </a:lnTo>
                  <a:cubicBezTo>
                    <a:pt x="22391624" y="1738757"/>
                    <a:pt x="22338157" y="1792224"/>
                    <a:pt x="22272118" y="1792224"/>
                  </a:cubicBezTo>
                  <a:lnTo>
                    <a:pt x="119507" y="1792224"/>
                  </a:lnTo>
                  <a:cubicBezTo>
                    <a:pt x="53467" y="1792224"/>
                    <a:pt x="0" y="1738757"/>
                    <a:pt x="0" y="167271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6550" y="8353722"/>
            <a:ext cx="16814899" cy="1344216"/>
            <a:chOff x="0" y="0"/>
            <a:chExt cx="22419865" cy="1792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19818" cy="1792224"/>
            </a:xfrm>
            <a:custGeom>
              <a:avLst/>
              <a:gdLst/>
              <a:ahLst/>
              <a:cxnLst/>
              <a:rect r="r" b="b" t="t" l="l"/>
              <a:pathLst>
                <a:path h="1792224" w="22419818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22377146" y="0"/>
                  </a:lnTo>
                  <a:cubicBezTo>
                    <a:pt x="22400768" y="0"/>
                    <a:pt x="22419818" y="19177"/>
                    <a:pt x="22419818" y="42672"/>
                  </a:cubicBezTo>
                  <a:lnTo>
                    <a:pt x="22419818" y="1749552"/>
                  </a:lnTo>
                  <a:cubicBezTo>
                    <a:pt x="22419818" y="1773174"/>
                    <a:pt x="22400640" y="1792224"/>
                    <a:pt x="22377146" y="1792224"/>
                  </a:cubicBezTo>
                  <a:lnTo>
                    <a:pt x="42672" y="1792224"/>
                  </a:lnTo>
                  <a:cubicBezTo>
                    <a:pt x="19050" y="1792224"/>
                    <a:pt x="0" y="1773047"/>
                    <a:pt x="0" y="174955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49970" y="8418462"/>
            <a:ext cx="16388060" cy="111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def create_user(type): if type == "customer": return Customer() if type == "admin": return Admin()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50094" y="573732"/>
            <a:ext cx="7081094" cy="649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🎯</a:t>
            </a:r>
            <a:r>
              <a:rPr lang="en-US" sz="3937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Strategy - Cálculo de Frete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0094" y="1289745"/>
            <a:ext cx="3592265" cy="39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Padrão Comportamental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0094" y="1951285"/>
            <a:ext cx="1678781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 b="true">
                <a:solidFill>
                  <a:srgbClr val="27252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Problema Resolvido:</a:t>
            </a:r>
            <a:r>
              <a:rPr lang="en-US" sz="1687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Múltiplos algoritmos de cálculo de frete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0094" y="2653754"/>
            <a:ext cx="3025676" cy="39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Implementação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50094" y="3372445"/>
            <a:ext cx="16787812" cy="4093369"/>
            <a:chOff x="0" y="0"/>
            <a:chExt cx="22383750" cy="54578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83750" cy="5457825"/>
            </a:xfrm>
            <a:custGeom>
              <a:avLst/>
              <a:gdLst/>
              <a:ahLst/>
              <a:cxnLst/>
              <a:rect r="r" b="b" t="t" l="l"/>
              <a:pathLst>
                <a:path h="5457825" w="22383750">
                  <a:moveTo>
                    <a:pt x="0" y="120015"/>
                  </a:moveTo>
                  <a:cubicBezTo>
                    <a:pt x="0" y="53721"/>
                    <a:pt x="53721" y="0"/>
                    <a:pt x="120015" y="0"/>
                  </a:cubicBezTo>
                  <a:lnTo>
                    <a:pt x="22263734" y="0"/>
                  </a:lnTo>
                  <a:cubicBezTo>
                    <a:pt x="22330029" y="0"/>
                    <a:pt x="22383750" y="53721"/>
                    <a:pt x="22383750" y="120015"/>
                  </a:cubicBezTo>
                  <a:lnTo>
                    <a:pt x="22383750" y="5337810"/>
                  </a:lnTo>
                  <a:cubicBezTo>
                    <a:pt x="22383750" y="5404104"/>
                    <a:pt x="22330029" y="5457825"/>
                    <a:pt x="22263734" y="5457825"/>
                  </a:cubicBezTo>
                  <a:lnTo>
                    <a:pt x="120015" y="5457825"/>
                  </a:lnTo>
                  <a:cubicBezTo>
                    <a:pt x="53721" y="5457825"/>
                    <a:pt x="0" y="5404104"/>
                    <a:pt x="0" y="533781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9379" y="3372445"/>
            <a:ext cx="16809244" cy="4093369"/>
            <a:chOff x="0" y="0"/>
            <a:chExt cx="22412325" cy="54578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12198" cy="5457698"/>
            </a:xfrm>
            <a:custGeom>
              <a:avLst/>
              <a:gdLst/>
              <a:ahLst/>
              <a:cxnLst/>
              <a:rect r="r" b="b" t="t" l="l"/>
              <a:pathLst>
                <a:path h="5457698" w="22412198">
                  <a:moveTo>
                    <a:pt x="0" y="42799"/>
                  </a:moveTo>
                  <a:cubicBezTo>
                    <a:pt x="0" y="19177"/>
                    <a:pt x="19177" y="0"/>
                    <a:pt x="42799" y="0"/>
                  </a:cubicBezTo>
                  <a:lnTo>
                    <a:pt x="22369399" y="0"/>
                  </a:lnTo>
                  <a:cubicBezTo>
                    <a:pt x="22393021" y="0"/>
                    <a:pt x="22412198" y="19177"/>
                    <a:pt x="22412198" y="42799"/>
                  </a:cubicBezTo>
                  <a:lnTo>
                    <a:pt x="22412198" y="5414899"/>
                  </a:lnTo>
                  <a:cubicBezTo>
                    <a:pt x="22412198" y="5438521"/>
                    <a:pt x="22393021" y="5457698"/>
                    <a:pt x="22369399" y="5457698"/>
                  </a:cubicBezTo>
                  <a:lnTo>
                    <a:pt x="42799" y="5457698"/>
                  </a:lnTo>
                  <a:cubicBezTo>
                    <a:pt x="19177" y="5457698"/>
                    <a:pt x="0" y="5438521"/>
                    <a:pt x="0" y="541489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53691" y="3437930"/>
            <a:ext cx="16380619" cy="386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class ShippingStrategy(ABC):    @abstractmethod    def calculate(self, weight, distance): passclass SedexStrategy(ShippingStrategy):    def calculate(self, weight, distance):        return 15.00 + (weight * 2)class ShippingCalculator:    def __init__(self, strategy):        self._strategy = strategy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0094" y="7768232"/>
            <a:ext cx="3025676" cy="39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Estratégias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0094" y="8429774"/>
            <a:ext cx="167878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687"/>
              </a:lnSpc>
              <a:buFont typeface="Arial"/>
              <a:buChar char="•"/>
            </a:pPr>
            <a:r>
              <a:rPr lang="en-US" sz="168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🚚</a:t>
            </a:r>
            <a:r>
              <a:rPr lang="en-US" sz="1687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Sedex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0094" y="8857209"/>
            <a:ext cx="167878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687"/>
              </a:lnSpc>
              <a:buFont typeface="Arial"/>
              <a:buChar char="•"/>
            </a:pPr>
            <a:r>
              <a:rPr lang="en-US" sz="168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📦</a:t>
            </a:r>
            <a:r>
              <a:rPr lang="en-US" sz="1687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Pac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0094" y="9284642"/>
            <a:ext cx="167878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687"/>
              </a:lnSpc>
              <a:buFont typeface="Arial"/>
              <a:buChar char="•"/>
            </a:pPr>
            <a:r>
              <a:rPr lang="en-US" sz="168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🏪</a:t>
            </a:r>
            <a:r>
              <a:rPr lang="en-US" sz="1687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Retirada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3491" y="785961"/>
            <a:ext cx="12458551" cy="88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👀</a:t>
            </a:r>
            <a:r>
              <a:rPr lang="en-US" sz="5374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Observer - Sistema de Notificações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3491" y="1772691"/>
            <a:ext cx="4902101" cy="53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Padrão Comportamental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3491" y="2660600"/>
            <a:ext cx="16241017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249" b="true">
                <a:solidFill>
                  <a:srgbClr val="27252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Problema Resolvido:</a:t>
            </a: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Múltiplos sistemas precisam saber sobre mudanças no pedido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3491" y="3633787"/>
            <a:ext cx="4128790" cy="53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Como Funciona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3491" y="4521696"/>
            <a:ext cx="16241017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Pedido (Subject) → Notifica → Observers: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491" y="5318523"/>
            <a:ext cx="16241017" cy="56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624"/>
              </a:lnSpc>
              <a:buFont typeface="Arial"/>
              <a:buChar char="•"/>
            </a:pPr>
            <a:r>
              <a:rPr lang="en-US" sz="224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📧</a:t>
            </a: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EmailNotification (cliente)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3491" y="5898207"/>
            <a:ext cx="16241017" cy="56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624"/>
              </a:lnSpc>
              <a:buFont typeface="Arial"/>
              <a:buChar char="•"/>
            </a:pPr>
            <a:r>
              <a:rPr lang="en-US" sz="224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📦</a:t>
            </a: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StockUpdate (estoque)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3491" y="6477892"/>
            <a:ext cx="16241017" cy="56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624"/>
              </a:lnSpc>
              <a:buFont typeface="Arial"/>
              <a:buChar char="•"/>
            </a:pPr>
            <a:r>
              <a:rPr lang="en-US" sz="224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⚠️</a:t>
            </a: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AdminAlert (administração)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3491" y="7057579"/>
            <a:ext cx="16241017" cy="56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624"/>
              </a:lnSpc>
              <a:buFont typeface="Arial"/>
              <a:buChar char="•"/>
            </a:pPr>
            <a:r>
              <a:rPr lang="en-US" sz="224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📋</a:t>
            </a: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AuditLogger (auditoria)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3491" y="8040291"/>
            <a:ext cx="4128790" cy="53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Benefício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3491" y="8928199"/>
            <a:ext cx="16241017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Comunicação automática e desacoplada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9185" y="656184"/>
            <a:ext cx="9579025" cy="75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49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🏗️</a:t>
            </a:r>
            <a:r>
              <a:rPr lang="en-US" sz="4499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Facade - Checkout Simplificado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9185" y="1495276"/>
            <a:ext cx="3465760" cy="44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Padrão Estrutural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9185" y="2230041"/>
            <a:ext cx="16569630" cy="46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 b="true">
                <a:solidFill>
                  <a:srgbClr val="27252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Problema Resolvido:</a:t>
            </a:r>
            <a:r>
              <a:rPr lang="en-US" sz="187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Checkout complexo com múltiplos subsistemas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9185" y="3057822"/>
            <a:ext cx="3465760" cy="44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Solução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9185" y="3792588"/>
            <a:ext cx="16569630" cy="46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Interface única que abstrai complexidade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59185" y="4537770"/>
            <a:ext cx="16569630" cy="3511451"/>
            <a:chOff x="0" y="0"/>
            <a:chExt cx="22092840" cy="46819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92793" cy="4681982"/>
            </a:xfrm>
            <a:custGeom>
              <a:avLst/>
              <a:gdLst/>
              <a:ahLst/>
              <a:cxnLst/>
              <a:rect r="r" b="b" t="t" l="l"/>
              <a:pathLst>
                <a:path h="4681982" w="22092793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21955379" y="0"/>
                  </a:lnTo>
                  <a:cubicBezTo>
                    <a:pt x="22031325" y="0"/>
                    <a:pt x="22092793" y="61595"/>
                    <a:pt x="22092793" y="137414"/>
                  </a:cubicBezTo>
                  <a:lnTo>
                    <a:pt x="22092793" y="4544441"/>
                  </a:lnTo>
                  <a:cubicBezTo>
                    <a:pt x="22092793" y="4620387"/>
                    <a:pt x="22031198" y="4681855"/>
                    <a:pt x="21955379" y="4681855"/>
                  </a:cubicBezTo>
                  <a:lnTo>
                    <a:pt x="137414" y="4681855"/>
                  </a:lnTo>
                  <a:cubicBezTo>
                    <a:pt x="61595" y="4681982"/>
                    <a:pt x="0" y="4620387"/>
                    <a:pt x="0" y="454444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46981" y="4537770"/>
            <a:ext cx="16594039" cy="3511451"/>
            <a:chOff x="0" y="0"/>
            <a:chExt cx="22125385" cy="46819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5432" cy="4681982"/>
            </a:xfrm>
            <a:custGeom>
              <a:avLst/>
              <a:gdLst/>
              <a:ahLst/>
              <a:cxnLst/>
              <a:rect r="r" b="b" t="t" l="l"/>
              <a:pathLst>
                <a:path h="4681982" w="22125432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22076283" y="0"/>
                  </a:lnTo>
                  <a:cubicBezTo>
                    <a:pt x="22103462" y="0"/>
                    <a:pt x="22125432" y="21971"/>
                    <a:pt x="22125432" y="49149"/>
                  </a:cubicBezTo>
                  <a:lnTo>
                    <a:pt x="22125432" y="4632833"/>
                  </a:lnTo>
                  <a:cubicBezTo>
                    <a:pt x="22125432" y="4660011"/>
                    <a:pt x="22103462" y="4681982"/>
                    <a:pt x="22076283" y="4681982"/>
                  </a:cubicBezTo>
                  <a:lnTo>
                    <a:pt x="49149" y="4681982"/>
                  </a:lnTo>
                  <a:cubicBezTo>
                    <a:pt x="21971" y="4681982"/>
                    <a:pt x="0" y="4660011"/>
                    <a:pt x="0" y="463283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92399" y="4598045"/>
            <a:ext cx="16103204" cy="326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class CheckoutFacade:    def process_order(self, cart, user):        # Interface simples escondendo:        # - Verificação de estoque        # - Processamento de pagamento        # - Cálculo de frete        # - Notificações        return self._process(cart, user)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9185" y="8407896"/>
            <a:ext cx="3966419" cy="44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Subsistemas Abstraídos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9185" y="9142660"/>
            <a:ext cx="16569630" cy="46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Stock • Payment • Shipping • Notification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5647" y="697409"/>
            <a:ext cx="8168282" cy="77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📊</a:t>
            </a:r>
            <a:r>
              <a:rPr lang="en-US" sz="4687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Arquitetura com Padrões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5647" y="1561803"/>
            <a:ext cx="6141244" cy="611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74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🔄</a:t>
            </a:r>
            <a:r>
              <a:rPr lang="en-US" sz="3749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Fluxo Coeso do Sistema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5647" y="2481114"/>
            <a:ext cx="255835" cy="396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01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895647" y="2963466"/>
            <a:ext cx="5328345" cy="28575"/>
            <a:chOff x="0" y="0"/>
            <a:chExt cx="7104460" cy="381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104507" cy="38100"/>
            </a:xfrm>
            <a:custGeom>
              <a:avLst/>
              <a:gdLst/>
              <a:ahLst/>
              <a:cxnLst/>
              <a:rect r="r" b="b" t="t" l="l"/>
              <a:pathLst>
                <a:path h="38100" w="7104507">
                  <a:moveTo>
                    <a:pt x="0" y="0"/>
                  </a:moveTo>
                  <a:lnTo>
                    <a:pt x="7104507" y="0"/>
                  </a:lnTo>
                  <a:lnTo>
                    <a:pt x="710450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" r="0" b="-3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95647" y="3129409"/>
            <a:ext cx="4324499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Singleton → DatabaseManager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5647" y="3601939"/>
            <a:ext cx="5328345" cy="48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BD único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79827" y="2481114"/>
            <a:ext cx="255835" cy="396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02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479827" y="2963466"/>
            <a:ext cx="5328345" cy="28575"/>
            <a:chOff x="0" y="0"/>
            <a:chExt cx="7104460" cy="381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104507" cy="38100"/>
            </a:xfrm>
            <a:custGeom>
              <a:avLst/>
              <a:gdLst/>
              <a:ahLst/>
              <a:cxnLst/>
              <a:rect r="r" b="b" t="t" l="l"/>
              <a:pathLst>
                <a:path h="38100" w="7104507">
                  <a:moveTo>
                    <a:pt x="0" y="0"/>
                  </a:moveTo>
                  <a:lnTo>
                    <a:pt x="7104507" y="0"/>
                  </a:lnTo>
                  <a:lnTo>
                    <a:pt x="710450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" r="0" b="-3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479827" y="3129409"/>
            <a:ext cx="3216474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Factory → UserFactory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79827" y="3601939"/>
            <a:ext cx="5328345" cy="48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Cria usuários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64007" y="2481114"/>
            <a:ext cx="255835" cy="396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03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2064007" y="2963466"/>
            <a:ext cx="5328345" cy="28575"/>
            <a:chOff x="0" y="0"/>
            <a:chExt cx="7104460" cy="381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104507" cy="38100"/>
            </a:xfrm>
            <a:custGeom>
              <a:avLst/>
              <a:gdLst/>
              <a:ahLst/>
              <a:cxnLst/>
              <a:rect r="r" b="b" t="t" l="l"/>
              <a:pathLst>
                <a:path h="38100" w="7104507">
                  <a:moveTo>
                    <a:pt x="0" y="0"/>
                  </a:moveTo>
                  <a:lnTo>
                    <a:pt x="7104507" y="0"/>
                  </a:lnTo>
                  <a:lnTo>
                    <a:pt x="710450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" r="0" b="-36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064007" y="3129409"/>
            <a:ext cx="3735884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Facade → CheckoutFacade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64007" y="3601939"/>
            <a:ext cx="5328345" cy="48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Processa pedidos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5647" y="4458890"/>
            <a:ext cx="255835" cy="396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04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895647" y="4915792"/>
            <a:ext cx="8120360" cy="28575"/>
            <a:chOff x="0" y="0"/>
            <a:chExt cx="10827147" cy="381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827131" cy="38100"/>
            </a:xfrm>
            <a:custGeom>
              <a:avLst/>
              <a:gdLst/>
              <a:ahLst/>
              <a:cxnLst/>
              <a:rect r="r" b="b" t="t" l="l"/>
              <a:pathLst>
                <a:path h="38100" w="10827131">
                  <a:moveTo>
                    <a:pt x="0" y="0"/>
                  </a:moveTo>
                  <a:lnTo>
                    <a:pt x="10827131" y="0"/>
                  </a:lnTo>
                  <a:lnTo>
                    <a:pt x="10827131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" t="0" r="-27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95647" y="5107186"/>
            <a:ext cx="3010495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Strategy → Shipping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5647" y="5579715"/>
            <a:ext cx="8120360" cy="48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Calcula fretes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71844" y="4458890"/>
            <a:ext cx="255835" cy="396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05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9271844" y="4915792"/>
            <a:ext cx="8120509" cy="28575"/>
            <a:chOff x="0" y="0"/>
            <a:chExt cx="10827345" cy="3810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0827385" cy="38100"/>
            </a:xfrm>
            <a:custGeom>
              <a:avLst/>
              <a:gdLst/>
              <a:ahLst/>
              <a:cxnLst/>
              <a:rect r="r" b="b" t="t" l="l"/>
              <a:pathLst>
                <a:path h="38100" w="10827385">
                  <a:moveTo>
                    <a:pt x="0" y="0"/>
                  </a:moveTo>
                  <a:lnTo>
                    <a:pt x="10827385" y="0"/>
                  </a:lnTo>
                  <a:lnTo>
                    <a:pt x="1082738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" t="0" r="-26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271844" y="5107186"/>
            <a:ext cx="3568154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Observer → Notifications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71844" y="5579715"/>
            <a:ext cx="8120509" cy="48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Comunica mudanças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5647" y="6631335"/>
            <a:ext cx="4816971" cy="611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74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🎯</a:t>
            </a:r>
            <a:r>
              <a:rPr lang="en-US" sz="3749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Resultado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95647" y="7550646"/>
            <a:ext cx="16496705" cy="49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✅</a:t>
            </a:r>
            <a:r>
              <a:rPr lang="en-US" sz="2000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Código organizado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5647" y="8058894"/>
            <a:ext cx="16496705" cy="495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✅</a:t>
            </a:r>
            <a:r>
              <a:rPr lang="en-US" sz="2000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Baixo acoplamento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95647" y="8567142"/>
            <a:ext cx="16496705" cy="495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✅</a:t>
            </a:r>
            <a:r>
              <a:rPr lang="en-US" sz="2000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Fácil manutenção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95647" y="9075390"/>
            <a:ext cx="16496705" cy="49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✅</a:t>
            </a:r>
            <a:r>
              <a:rPr lang="en-US" sz="2000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Pronto para expansão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4441" y="966490"/>
            <a:ext cx="7647534" cy="87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📈</a:t>
            </a:r>
            <a:r>
              <a:rPr lang="en-US" sz="5312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Impacto Mensurável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4441" y="1934766"/>
            <a:ext cx="5802958" cy="703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🚀</a:t>
            </a:r>
            <a:r>
              <a:rPr lang="en-US" sz="4250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Melhorias Técnicas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4441" y="3355330"/>
            <a:ext cx="3800772" cy="80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7"/>
              </a:lnSpc>
            </a:pPr>
            <a:r>
              <a:rPr lang="en-US" sz="7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40%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6521" y="4499074"/>
            <a:ext cx="3376464" cy="44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Menos acoplamento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4441" y="5036195"/>
            <a:ext cx="3800772" cy="53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entre módulos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63890" y="3355330"/>
            <a:ext cx="3800773" cy="80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7"/>
              </a:lnSpc>
            </a:pPr>
            <a:r>
              <a:rPr lang="en-US" sz="7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60%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75970" y="4499074"/>
            <a:ext cx="3376464" cy="44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Mais flexibilidade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63890" y="5036195"/>
            <a:ext cx="3800773" cy="53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 novas 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23337" y="3355330"/>
            <a:ext cx="3800773" cy="80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7"/>
              </a:lnSpc>
            </a:pPr>
            <a:r>
              <a:rPr lang="en-US" sz="7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50%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35417" y="4499074"/>
            <a:ext cx="3376464" cy="44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Melhor legibilidade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23337" y="5036195"/>
            <a:ext cx="3800773" cy="53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 código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82786" y="3355330"/>
            <a:ext cx="3800773" cy="80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7"/>
              </a:lnSpc>
            </a:pPr>
            <a:r>
              <a:rPr lang="en-US" sz="7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30%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45741" y="4499074"/>
            <a:ext cx="3674864" cy="44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Mais fácil manutenção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82786" y="5036195"/>
            <a:ext cx="3800773" cy="53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 sistema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4441" y="5982741"/>
            <a:ext cx="6499771" cy="703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💡</a:t>
            </a:r>
            <a:r>
              <a:rPr lang="en-US" sz="4250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Benefícios de Negócio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4441" y="7040761"/>
            <a:ext cx="16279117" cy="54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562"/>
              </a:lnSpc>
              <a:buFont typeface="Arial"/>
              <a:buChar char="•"/>
            </a:pPr>
            <a:r>
              <a:rPr lang="en-US" sz="224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🕒</a:t>
            </a: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Processos mais rápidos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4441" y="7609582"/>
            <a:ext cx="16279117" cy="54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562"/>
              </a:lnSpc>
              <a:buFont typeface="Arial"/>
              <a:buChar char="•"/>
            </a:pPr>
            <a:r>
              <a:rPr lang="en-US" sz="224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💰</a:t>
            </a: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Menor custo de desenvolvimento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4441" y="8178404"/>
            <a:ext cx="16279117" cy="54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562"/>
              </a:lnSpc>
              <a:buFont typeface="Arial"/>
              <a:buChar char="•"/>
            </a:pPr>
            <a:r>
              <a:rPr lang="en-US" sz="224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🎯</a:t>
            </a: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Maior satisfação do cliente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4441" y="8747224"/>
            <a:ext cx="16279117" cy="54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562"/>
              </a:lnSpc>
              <a:buFont typeface="Arial"/>
              <a:buChar char="•"/>
            </a:pPr>
            <a:r>
              <a:rPr lang="en-US" sz="224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🔧</a:t>
            </a:r>
            <a:r>
              <a:rPr lang="en-US" sz="2249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Equipe mais produtiva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1574750"/>
            <a:ext cx="10823674" cy="9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📚</a:t>
            </a:r>
            <a:r>
              <a:rPr lang="en-US" sz="5500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Aprendizados | </a:t>
            </a:r>
            <a:r>
              <a:rPr lang="en-US" sz="550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🎯</a:t>
            </a:r>
            <a:r>
              <a:rPr lang="en-US" sz="5500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Conclusão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5" y="3221682"/>
            <a:ext cx="4480769" cy="54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💡</a:t>
            </a:r>
            <a:r>
              <a:rPr lang="en-US" sz="3312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O que Aprendemos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155" y="3972520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Padrões resolvem problemas específicos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5" y="4555926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Arquitetura desacoplada = manutenção fácil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155" y="5139332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Código organizado economiza tempo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5" y="5722739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Documentação é crucial para o time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18451" y="3221682"/>
            <a:ext cx="4224338" cy="54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✅</a:t>
            </a:r>
            <a:r>
              <a:rPr lang="en-US" sz="3312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Conclusão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18451" y="3972520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27252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5 Padrões Aplicados com Sucesso: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18451" y="4720530"/>
            <a:ext cx="7731919" cy="5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AutoNum type="arabicPeriod" startAt="1"/>
            </a:pPr>
            <a:r>
              <a:rPr lang="en-US" sz="2312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🔧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Singleton - Controle de recursos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18451" y="5313461"/>
            <a:ext cx="7731919" cy="5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AutoNum type="arabicPeriod" startAt="1"/>
            </a:pPr>
            <a:r>
              <a:rPr lang="en-US" sz="2312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🏭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Factory - Criação flexível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18451" y="5906392"/>
            <a:ext cx="7731919" cy="5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AutoNum type="arabicPeriod" startAt="1"/>
            </a:pPr>
            <a:r>
              <a:rPr lang="en-US" sz="2312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🎯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Strategy - Algoritmos intercambiáveis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18451" y="6499324"/>
            <a:ext cx="7731919" cy="5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AutoNum type="arabicPeriod" startAt="1"/>
            </a:pPr>
            <a:r>
              <a:rPr lang="en-US" sz="2312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👀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Observer - Notificações desacopladas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18451" y="7092255"/>
            <a:ext cx="7731919" cy="5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AutoNum type="arabicPeriod" startAt="1"/>
            </a:pPr>
            <a:r>
              <a:rPr lang="en-US" sz="2312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🏗️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Facade - Interfaces simplificadas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18451" y="7849790"/>
            <a:ext cx="7731919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Sistema mais robusto e preparado para o futuro!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1394966"/>
            <a:ext cx="8939064" cy="9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🙏</a:t>
            </a:r>
            <a:r>
              <a:rPr lang="en-US" sz="5500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Obrigado pela Atenção!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5" y="3041897"/>
            <a:ext cx="4224338" cy="53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Contato da Equipe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155" y="3783211"/>
            <a:ext cx="773191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👥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Equipe: Anderson Islan, Camylla Braz, Alessandra Macêdo, Gabriel Ferreira e Gabriel Garcia.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5" y="5298281"/>
            <a:ext cx="7731919" cy="5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🔗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Repositório: link.gitlab.com/equipe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18451" y="3041897"/>
            <a:ext cx="4966097" cy="54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📚</a:t>
            </a:r>
            <a:r>
              <a:rPr lang="en-US" sz="3312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Recursos Disponíveis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18451" y="3792736"/>
            <a:ext cx="7731919" cy="5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🎓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Slides Completo no Blackboard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18451" y="4385668"/>
            <a:ext cx="7731919" cy="5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💻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Código Fonte no GitLab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18451" y="4978599"/>
            <a:ext cx="7731919" cy="5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🏗️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Diagramas UML atualizados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18451" y="5571530"/>
            <a:ext cx="7731919" cy="58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📋</a:t>
            </a: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Documentação técnica completa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7155" y="6745730"/>
            <a:ext cx="16193690" cy="46881"/>
            <a:chOff x="0" y="0"/>
            <a:chExt cx="21591587" cy="625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591524" cy="62484"/>
            </a:xfrm>
            <a:custGeom>
              <a:avLst/>
              <a:gdLst/>
              <a:ahLst/>
              <a:cxnLst/>
              <a:rect r="r" b="b" t="t" l="l"/>
              <a:pathLst>
                <a:path h="62484" w="21591524">
                  <a:moveTo>
                    <a:pt x="0" y="0"/>
                  </a:moveTo>
                  <a:lnTo>
                    <a:pt x="21591524" y="0"/>
                  </a:lnTo>
                  <a:lnTo>
                    <a:pt x="21591524" y="62484"/>
                  </a:lnTo>
                  <a:lnTo>
                    <a:pt x="0" y="62484"/>
                  </a:lnTo>
                  <a:close/>
                </a:path>
              </a:pathLst>
            </a:custGeom>
            <a:solidFill>
              <a:srgbClr val="272525">
                <a:alpha val="24706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47155" y="7212657"/>
            <a:ext cx="6848326" cy="732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❓</a:t>
            </a:r>
            <a:r>
              <a:rPr lang="en-US" sz="4375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Perguntas e Discussão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7155" y="8298805"/>
            <a:ext cx="16193690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Estamos aqui para responder todas as dúvidas!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DAG4EaEFi88</dc:identifier>
  <dcterms:modified xsi:type="dcterms:W3CDTF">2011-08-01T06:04:30Z</dcterms:modified>
  <cp:revision>1</cp:revision>
  <dc:title>Aplicacao-no-Sistema-de-E-commerce.pptx</dc:title>
</cp:coreProperties>
</file>